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76549F4-669E-443C-9E3C-88DD0C47D30D}">
  <a:tblStyle styleId="{C76549F4-669E-443C-9E3C-88DD0C47D30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hyperlink" Target="https://drive.google.com/file/d/1VH9LlMp0qiwShprQ1q3gHpX9NeePfPtX/view?usp=drive_link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66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Evaluación del Rendimiento Académico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914400" y="2743205"/>
            <a:ext cx="731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Universidad ECCI</a:t>
            </a:r>
            <a:endParaRPr/>
          </a:p>
        </p:txBody>
      </p:sp>
      <p:pic>
        <p:nvPicPr>
          <p:cNvPr descr="logo_ECCI.jpg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79" y="274320"/>
            <a:ext cx="118872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>
            <a:hlinkClick r:id="rId4"/>
          </p:cNvPr>
          <p:cNvSpPr/>
          <p:nvPr/>
        </p:nvSpPr>
        <p:spPr>
          <a:xfrm>
            <a:off x="2926080" y="2926080"/>
            <a:ext cx="4114800" cy="237744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▶ Clic para reproducir video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Indicadores clave</a:t>
            </a:r>
            <a:endParaRPr/>
          </a:p>
        </p:txBody>
      </p:sp>
      <p:pic>
        <p:nvPicPr>
          <p:cNvPr descr="logo_ECCI.jp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79" y="91440"/>
            <a:ext cx="914400" cy="63304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48640" y="1463040"/>
            <a:ext cx="822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Promedio académico global: 3.37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Porcentaje de estudiantes en riesgo (pomedio &lt; 3.0): 50.0%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Observaciones: Variabilidad alta en asignaturas clave; diferencias según jornada.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fico_promedio_programa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097280"/>
            <a:ext cx="8229600" cy="462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548640" y="18288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Promedio por Programa</a:t>
            </a:r>
            <a:endParaRPr/>
          </a:p>
        </p:txBody>
      </p:sp>
      <p:pic>
        <p:nvPicPr>
          <p:cNvPr descr="logo_ECCI.jp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8079" y="91440"/>
            <a:ext cx="914400" cy="633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fico_variabilidad_asignaturas.png" id="106" name="Google Shape;10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097280"/>
            <a:ext cx="8229600" cy="462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6"/>
          <p:cNvSpPr txBox="1"/>
          <p:nvPr/>
        </p:nvSpPr>
        <p:spPr>
          <a:xfrm>
            <a:off x="548640" y="18288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Asignaturas con mayor variabilidad</a:t>
            </a:r>
            <a:endParaRPr/>
          </a:p>
        </p:txBody>
      </p:sp>
      <p:pic>
        <p:nvPicPr>
          <p:cNvPr descr="logo_ECCI.jpg" id="108" name="Google Shape;10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8079" y="91440"/>
            <a:ext cx="914400" cy="633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Resumen por Programa</a:t>
            </a:r>
            <a:endParaRPr/>
          </a:p>
        </p:txBody>
      </p:sp>
      <p:pic>
        <p:nvPicPr>
          <p:cNvPr descr="logo_ECCI.jpg" id="114" name="Google Shape;11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79" y="91440"/>
            <a:ext cx="914400" cy="63304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5" name="Google Shape;115;p17"/>
          <p:cNvGraphicFramePr/>
          <p:nvPr/>
        </p:nvGraphicFramePr>
        <p:xfrm>
          <a:off x="457200" y="14630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{C76549F4-669E-443C-9E3C-88DD0C47D30D}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Programa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promedio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mediana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desviacion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minimo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maximo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Contabilidad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0.566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Electrónica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0.566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4.8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Gestión Empresarial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2.9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Sistemas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3.367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1.401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4.5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Segmentación por jornada (promedio por programa)</a:t>
            </a:r>
            <a:endParaRPr/>
          </a:p>
        </p:txBody>
      </p:sp>
      <p:pic>
        <p:nvPicPr>
          <p:cNvPr descr="logo_ECCI.jpg" id="121" name="Google Shape;12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79" y="91440"/>
            <a:ext cx="914400" cy="63304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2" name="Google Shape;122;p18"/>
          <p:cNvGraphicFramePr/>
          <p:nvPr/>
        </p:nvGraphicFramePr>
        <p:xfrm>
          <a:off x="457200" y="14630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{C76549F4-669E-443C-9E3C-88DD0C47D30D}</a:tableStyleId>
              </a:tblPr>
              <a:tblGrid>
                <a:gridCol w="2743200"/>
                <a:gridCol w="2743200"/>
                <a:gridCol w="2743200"/>
              </a:tblGrid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programa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Diurna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Nocturna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Contabilidad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2.8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Electrónica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Gestión Empresarial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Sistemas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4.15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1.8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fico_jornada_comparacion.png" id="127" name="Google Shape;12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097280"/>
            <a:ext cx="8229600" cy="462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9"/>
          <p:cNvSpPr txBox="1"/>
          <p:nvPr/>
        </p:nvSpPr>
        <p:spPr>
          <a:xfrm>
            <a:off x="548640" y="18288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Comparación por Jornada</a:t>
            </a:r>
            <a:endParaRPr/>
          </a:p>
        </p:txBody>
      </p:sp>
      <p:pic>
        <p:nvPicPr>
          <p:cNvPr descr="logo_ECCI.jpg" id="129" name="Google Shape;12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8079" y="91440"/>
            <a:ext cx="914400" cy="633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Estudiantes en riesgo</a:t>
            </a:r>
            <a:endParaRPr/>
          </a:p>
        </p:txBody>
      </p:sp>
      <p:pic>
        <p:nvPicPr>
          <p:cNvPr descr="logo_ECCI.jpg" id="135" name="Google Shape;13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79" y="91440"/>
            <a:ext cx="914400" cy="63304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0"/>
          <p:cNvSpPr txBox="1"/>
          <p:nvPr/>
        </p:nvSpPr>
        <p:spPr>
          <a:xfrm>
            <a:off x="548640" y="1463040"/>
            <a:ext cx="8229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estudiantes analizados: 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Estudiantes en riesgo (promedio &lt; 3.0): 3 (50.0%)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Distribución por programa y sugerencias de intervención focalizada.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Recomendaciones estratégicas</a:t>
            </a:r>
            <a:endParaRPr/>
          </a:p>
        </p:txBody>
      </p:sp>
      <p:pic>
        <p:nvPicPr>
          <p:cNvPr descr="logo_ECCI.jpg" id="142" name="Google Shape;14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79" y="91440"/>
            <a:ext cx="914400" cy="63304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1"/>
          <p:cNvSpPr txBox="1"/>
          <p:nvPr/>
        </p:nvSpPr>
        <p:spPr>
          <a:xfrm>
            <a:off x="548640" y="128016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Implementar tutorías focalizadas en asignaturas de alta variabilidad (Matemáticas, Física).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Revisar metodologías de evaluación (alineación entre objetivos y pruebas).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Desarrollar alertas tempranas con promedios por estudiante y por asignatura.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Diseñar programas de recuperación y refuerzo en jornadas con menor desempeño.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Capacitación docente en evaluación formativa y diseño de actividades activas.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Estandarizar procesos de limpieza y consolidación de datos antes de cada análisis.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 de seguimiento</a:t>
            </a:r>
            <a:endParaRPr/>
          </a:p>
        </p:txBody>
      </p:sp>
      <p:pic>
        <p:nvPicPr>
          <p:cNvPr descr="logo_ECCI.jpg" id="149" name="Google Shape;14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79" y="91440"/>
            <a:ext cx="914400" cy="633046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2"/>
          <p:cNvSpPr txBox="1"/>
          <p:nvPr/>
        </p:nvSpPr>
        <p:spPr>
          <a:xfrm>
            <a:off x="548640" y="128016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Definir KPIs trimestrales (promedio por programa, tasa de riesgo).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Publicar panel de control interno y reportes trimestrales.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Ejecutar pilotos de tutoría en los programas críticos (Q1).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Evaluación de impacto (Q2) y ajuste de la estrategia.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Establecer gobernanza de datos para limpieza continua.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